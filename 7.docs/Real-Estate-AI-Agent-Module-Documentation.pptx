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Roboto Medium"/>
      <p:regular r:id="rId17"/>
    </p:embeddedFont>
    <p:embeddedFont>
      <p:font typeface="Roboto Medium"/>
      <p:regular r:id="rId18"/>
    </p:embeddedFont>
    <p:embeddedFont>
      <p:font typeface="Roboto Medium"/>
      <p:regular r:id="rId19"/>
    </p:embeddedFont>
    <p:embeddedFont>
      <p:font typeface="Roboto Medium"/>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449958"/>
            <a:ext cx="4722763" cy="775097"/>
          </a:xfrm>
          <a:prstGeom prst="rect">
            <a:avLst/>
          </a:prstGeom>
          <a:noFill/>
          <a:ln/>
        </p:spPr>
        <p:txBody>
          <a:bodyPr wrap="squar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Real Estate AI Agent Module Documentation</a:t>
            </a:r>
            <a:endParaRPr lang="en-US" sz="2400" dirty="0"/>
          </a:p>
        </p:txBody>
      </p:sp>
      <p:sp>
        <p:nvSpPr>
          <p:cNvPr id="4" name="Text 1"/>
          <p:cNvSpPr/>
          <p:nvPr/>
        </p:nvSpPr>
        <p:spPr>
          <a:xfrm>
            <a:off x="3925119" y="2411090"/>
            <a:ext cx="4722763" cy="595387"/>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An end-to-end, autonomous concierge designed to revolutionize how users search for, evaluate, and book properties — powered by conversational AI, machine learning, and deterministic market analysis.</a:t>
            </a:r>
            <a:endParaRPr lang="en-US" sz="950" dirty="0"/>
          </a:p>
        </p:txBody>
      </p:sp>
      <p:sp>
        <p:nvSpPr>
          <p:cNvPr id="5" name="Shape 2"/>
          <p:cNvSpPr/>
          <p:nvPr/>
        </p:nvSpPr>
        <p:spPr>
          <a:xfrm>
            <a:off x="3925119" y="3150766"/>
            <a:ext cx="2466231" cy="233214"/>
          </a:xfrm>
          <a:prstGeom prst="roundRect">
            <a:avLst>
              <a:gd name="adj" fmla="val 17872"/>
            </a:avLst>
          </a:prstGeom>
          <a:solidFill>
            <a:srgbClr val="0F163E"/>
          </a:solidFill>
          <a:ln/>
        </p:spPr>
      </p:sp>
      <p:sp>
        <p:nvSpPr>
          <p:cNvPr id="6" name="Text 3"/>
          <p:cNvSpPr/>
          <p:nvPr/>
        </p:nvSpPr>
        <p:spPr>
          <a:xfrm>
            <a:off x="3999533" y="3187973"/>
            <a:ext cx="2317403" cy="158800"/>
          </a:xfrm>
          <a:prstGeom prst="rect">
            <a:avLst/>
          </a:prstGeom>
          <a:noFill/>
          <a:ln/>
        </p:spPr>
        <p:txBody>
          <a:bodyPr wrap="none" lIns="0" tIns="0" rIns="0" bIns="0" rtlCol="0" anchor="t"/>
          <a:lstStyle/>
          <a:p>
            <a:pPr algn="l" indent="0" marL="0">
              <a:lnSpc>
                <a:spcPts val="1250"/>
              </a:lnSpc>
              <a:buNone/>
            </a:pPr>
            <a:r>
              <a:rPr lang="en-US" sz="750" dirty="0">
                <a:solidFill>
                  <a:srgbClr val="CFD0D8"/>
                </a:solidFill>
                <a:latin typeface="Roboto" pitchFamily="34" charset="0"/>
                <a:ea typeface="Roboto" pitchFamily="34" charset="-122"/>
                <a:cs typeface="Roboto" pitchFamily="34" charset="-120"/>
              </a:rPr>
              <a:t>REAL ESTATE AI AGENT MODULE DOCUMENTATION</a:t>
            </a:r>
            <a:endParaRPr lang="en-US" sz="750" dirty="0"/>
          </a:p>
        </p:txBody>
      </p:sp>
      <p:sp>
        <p:nvSpPr>
          <p:cNvPr id="7" name="Shape 4"/>
          <p:cNvSpPr/>
          <p:nvPr/>
        </p:nvSpPr>
        <p:spPr>
          <a:xfrm>
            <a:off x="6453336" y="3146003"/>
            <a:ext cx="1390873" cy="242739"/>
          </a:xfrm>
          <a:prstGeom prst="roundRect">
            <a:avLst>
              <a:gd name="adj" fmla="val 17171"/>
            </a:avLst>
          </a:prstGeom>
          <a:noFill/>
          <a:ln w="4763">
            <a:solidFill>
              <a:srgbClr val="5A6ED8"/>
            </a:solidFill>
            <a:prstDash val="solid"/>
          </a:ln>
        </p:spPr>
      </p:sp>
      <p:sp>
        <p:nvSpPr>
          <p:cNvPr id="8" name="Text 5"/>
          <p:cNvSpPr/>
          <p:nvPr/>
        </p:nvSpPr>
        <p:spPr>
          <a:xfrm>
            <a:off x="6532513" y="3187973"/>
            <a:ext cx="1232520" cy="158800"/>
          </a:xfrm>
          <a:prstGeom prst="rect">
            <a:avLst/>
          </a:prstGeom>
          <a:noFill/>
          <a:ln/>
        </p:spPr>
        <p:txBody>
          <a:bodyPr wrap="none" lIns="0" tIns="0" rIns="0" bIns="0" rtlCol="0" anchor="t"/>
          <a:lstStyle/>
          <a:p>
            <a:pPr algn="l" indent="0" marL="0">
              <a:lnSpc>
                <a:spcPts val="1250"/>
              </a:lnSpc>
              <a:buNone/>
            </a:pPr>
            <a:r>
              <a:rPr lang="en-US" sz="750" dirty="0">
                <a:solidFill>
                  <a:srgbClr val="5A6ED8"/>
                </a:solidFill>
                <a:latin typeface="Roboto" pitchFamily="34" charset="0"/>
                <a:ea typeface="Roboto" pitchFamily="34" charset="-122"/>
                <a:cs typeface="Roboto" pitchFamily="34" charset="-120"/>
              </a:rPr>
              <a:t>AUTONOMOUS CONCIERGE</a:t>
            </a:r>
            <a:endParaRPr lang="en-US" sz="750" dirty="0"/>
          </a:p>
        </p:txBody>
      </p:sp>
      <p:sp>
        <p:nvSpPr>
          <p:cNvPr id="9" name="Shape 6"/>
          <p:cNvSpPr/>
          <p:nvPr/>
        </p:nvSpPr>
        <p:spPr>
          <a:xfrm>
            <a:off x="3925119" y="3450729"/>
            <a:ext cx="908224" cy="242739"/>
          </a:xfrm>
          <a:prstGeom prst="roundRect">
            <a:avLst>
              <a:gd name="adj" fmla="val 17171"/>
            </a:avLst>
          </a:prstGeom>
          <a:noFill/>
          <a:ln w="4763">
            <a:solidFill>
              <a:srgbClr val="5A6ED8"/>
            </a:solidFill>
            <a:prstDash val="solid"/>
          </a:ln>
        </p:spPr>
      </p:sp>
      <p:sp>
        <p:nvSpPr>
          <p:cNvPr id="10" name="Text 7"/>
          <p:cNvSpPr/>
          <p:nvPr/>
        </p:nvSpPr>
        <p:spPr>
          <a:xfrm>
            <a:off x="4004295" y="3492698"/>
            <a:ext cx="749871" cy="158800"/>
          </a:xfrm>
          <a:prstGeom prst="rect">
            <a:avLst/>
          </a:prstGeom>
          <a:noFill/>
          <a:ln/>
        </p:spPr>
        <p:txBody>
          <a:bodyPr wrap="none" lIns="0" tIns="0" rIns="0" bIns="0" rtlCol="0" anchor="t"/>
          <a:lstStyle/>
          <a:p>
            <a:pPr algn="l" indent="0" marL="0">
              <a:lnSpc>
                <a:spcPts val="1250"/>
              </a:lnSpc>
              <a:buNone/>
            </a:pPr>
            <a:r>
              <a:rPr lang="en-US" sz="750" dirty="0">
                <a:solidFill>
                  <a:srgbClr val="5A6ED8"/>
                </a:solidFill>
                <a:latin typeface="Roboto" pitchFamily="34" charset="0"/>
                <a:ea typeface="Roboto" pitchFamily="34" charset="-122"/>
                <a:cs typeface="Roboto" pitchFamily="34" charset="-120"/>
              </a:rPr>
              <a:t>SEARCH ENGINE</a:t>
            </a:r>
            <a:endParaRPr lang="en-US" sz="750" dirty="0"/>
          </a:p>
        </p:txBody>
      </p:sp>
      <p:sp>
        <p:nvSpPr>
          <p:cNvPr id="11" name="Shape 8"/>
          <p:cNvSpPr/>
          <p:nvPr/>
        </p:nvSpPr>
        <p:spPr>
          <a:xfrm>
            <a:off x="4895329" y="3450729"/>
            <a:ext cx="992907" cy="242739"/>
          </a:xfrm>
          <a:prstGeom prst="roundRect">
            <a:avLst>
              <a:gd name="adj" fmla="val 17171"/>
            </a:avLst>
          </a:prstGeom>
          <a:noFill/>
          <a:ln w="4763">
            <a:solidFill>
              <a:srgbClr val="5A6ED8"/>
            </a:solidFill>
            <a:prstDash val="solid"/>
          </a:ln>
        </p:spPr>
      </p:sp>
      <p:sp>
        <p:nvSpPr>
          <p:cNvPr id="12" name="Text 9"/>
          <p:cNvSpPr/>
          <p:nvPr/>
        </p:nvSpPr>
        <p:spPr>
          <a:xfrm>
            <a:off x="4974506" y="3492698"/>
            <a:ext cx="834554" cy="158800"/>
          </a:xfrm>
          <a:prstGeom prst="rect">
            <a:avLst/>
          </a:prstGeom>
          <a:noFill/>
          <a:ln/>
        </p:spPr>
        <p:txBody>
          <a:bodyPr wrap="none" lIns="0" tIns="0" rIns="0" bIns="0" rtlCol="0" anchor="t"/>
          <a:lstStyle/>
          <a:p>
            <a:pPr algn="l" indent="0" marL="0">
              <a:lnSpc>
                <a:spcPts val="1250"/>
              </a:lnSpc>
              <a:buNone/>
            </a:pPr>
            <a:r>
              <a:rPr lang="en-US" sz="750" dirty="0">
                <a:solidFill>
                  <a:srgbClr val="5A6ED8"/>
                </a:solidFill>
                <a:latin typeface="Roboto" pitchFamily="34" charset="0"/>
                <a:ea typeface="Roboto" pitchFamily="34" charset="-122"/>
                <a:cs typeface="Roboto" pitchFamily="34" charset="-120"/>
              </a:rPr>
              <a:t>MARKET ANALYST</a:t>
            </a:r>
            <a:endParaRPr lang="en-US" sz="750" dirty="0"/>
          </a:p>
        </p:txBody>
      </p:sp>
      <p:sp>
        <p:nvSpPr>
          <p:cNvPr id="13" name="Shape 10"/>
          <p:cNvSpPr/>
          <p:nvPr/>
        </p:nvSpPr>
        <p:spPr>
          <a:xfrm>
            <a:off x="5950223" y="3450729"/>
            <a:ext cx="1087487" cy="242739"/>
          </a:xfrm>
          <a:prstGeom prst="roundRect">
            <a:avLst>
              <a:gd name="adj" fmla="val 17171"/>
            </a:avLst>
          </a:prstGeom>
          <a:noFill/>
          <a:ln w="4763">
            <a:solidFill>
              <a:srgbClr val="5A6ED8"/>
            </a:solidFill>
            <a:prstDash val="solid"/>
          </a:ln>
        </p:spPr>
      </p:sp>
      <p:sp>
        <p:nvSpPr>
          <p:cNvPr id="14" name="Text 11"/>
          <p:cNvSpPr/>
          <p:nvPr/>
        </p:nvSpPr>
        <p:spPr>
          <a:xfrm>
            <a:off x="6029399" y="3492698"/>
            <a:ext cx="929134" cy="158800"/>
          </a:xfrm>
          <a:prstGeom prst="rect">
            <a:avLst/>
          </a:prstGeom>
          <a:noFill/>
          <a:ln/>
        </p:spPr>
        <p:txBody>
          <a:bodyPr wrap="none" lIns="0" tIns="0" rIns="0" bIns="0" rtlCol="0" anchor="t"/>
          <a:lstStyle/>
          <a:p>
            <a:pPr algn="l" indent="0" marL="0">
              <a:lnSpc>
                <a:spcPts val="1250"/>
              </a:lnSpc>
              <a:buNone/>
            </a:pPr>
            <a:r>
              <a:rPr lang="en-US" sz="750" dirty="0">
                <a:solidFill>
                  <a:srgbClr val="5A6ED8"/>
                </a:solidFill>
                <a:latin typeface="Roboto" pitchFamily="34" charset="0"/>
                <a:ea typeface="Roboto" pitchFamily="34" charset="-122"/>
                <a:cs typeface="Roboto" pitchFamily="34" charset="-120"/>
              </a:rPr>
              <a:t>CUSTOMER SERVICE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81803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Executive Summary</a:t>
            </a:r>
            <a:endParaRPr lang="en-US" sz="2400" dirty="0"/>
          </a:p>
        </p:txBody>
      </p:sp>
      <p:sp>
        <p:nvSpPr>
          <p:cNvPr id="4" name="Text 1"/>
          <p:cNvSpPr/>
          <p:nvPr/>
        </p:nvSpPr>
        <p:spPr>
          <a:xfrm>
            <a:off x="3925119" y="1391617"/>
            <a:ext cx="4722763" cy="992312"/>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Instead of forcing users to navigate complex web filters or talk to pushy human agents, this system allows users to simply describe what they want in natural language. Behind the scenes, the system translates conversational text into rigorous mathematical constraints, searches through thousands of properties, calculates live market statistics, and formulates high-end, personalized advice.</a:t>
            </a:r>
            <a:endParaRPr lang="en-US" sz="950" dirty="0"/>
          </a:p>
        </p:txBody>
      </p:sp>
      <p:sp>
        <p:nvSpPr>
          <p:cNvPr id="5" name="Shape 2"/>
          <p:cNvSpPr/>
          <p:nvPr/>
        </p:nvSpPr>
        <p:spPr>
          <a:xfrm>
            <a:off x="3925119" y="2523455"/>
            <a:ext cx="2299395" cy="1032867"/>
          </a:xfrm>
          <a:prstGeom prst="roundRect">
            <a:avLst>
              <a:gd name="adj" fmla="val 5044"/>
            </a:avLst>
          </a:prstGeom>
          <a:solidFill>
            <a:srgbClr val="182567"/>
          </a:solidFill>
          <a:ln w="4763">
            <a:solidFill>
              <a:srgbClr val="313E80"/>
            </a:solidFill>
            <a:prstDash val="solid"/>
          </a:ln>
        </p:spPr>
      </p:sp>
      <p:sp>
        <p:nvSpPr>
          <p:cNvPr id="6" name="Text 3"/>
          <p:cNvSpPr/>
          <p:nvPr/>
        </p:nvSpPr>
        <p:spPr>
          <a:xfrm>
            <a:off x="4053855" y="2652192"/>
            <a:ext cx="2041922" cy="775395"/>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Search Engine: Finds the best properties based on hidden patterns and semantic understanding.</a:t>
            </a:r>
            <a:endParaRPr lang="en-US" sz="1200" dirty="0"/>
          </a:p>
        </p:txBody>
      </p:sp>
      <p:sp>
        <p:nvSpPr>
          <p:cNvPr id="7" name="Shape 4"/>
          <p:cNvSpPr/>
          <p:nvPr/>
        </p:nvSpPr>
        <p:spPr>
          <a:xfrm>
            <a:off x="6348487" y="2523455"/>
            <a:ext cx="2299395" cy="1032867"/>
          </a:xfrm>
          <a:prstGeom prst="roundRect">
            <a:avLst>
              <a:gd name="adj" fmla="val 5044"/>
            </a:avLst>
          </a:prstGeom>
          <a:solidFill>
            <a:srgbClr val="182567"/>
          </a:solidFill>
          <a:ln w="4763">
            <a:solidFill>
              <a:srgbClr val="313E80"/>
            </a:solidFill>
            <a:prstDash val="solid"/>
          </a:ln>
        </p:spPr>
      </p:sp>
      <p:sp>
        <p:nvSpPr>
          <p:cNvPr id="8" name="Text 5"/>
          <p:cNvSpPr/>
          <p:nvPr/>
        </p:nvSpPr>
        <p:spPr>
          <a:xfrm>
            <a:off x="6477223" y="2652192"/>
            <a:ext cx="2041922" cy="775395"/>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Market Analyst: Calculates whether a property is actually a good deal using live market statistics.</a:t>
            </a:r>
            <a:endParaRPr lang="en-US" sz="1200" dirty="0"/>
          </a:p>
        </p:txBody>
      </p:sp>
      <p:sp>
        <p:nvSpPr>
          <p:cNvPr id="9" name="Shape 6"/>
          <p:cNvSpPr/>
          <p:nvPr/>
        </p:nvSpPr>
        <p:spPr>
          <a:xfrm>
            <a:off x="3925119" y="3680296"/>
            <a:ext cx="4722763" cy="645170"/>
          </a:xfrm>
          <a:prstGeom prst="roundRect">
            <a:avLst>
              <a:gd name="adj" fmla="val 8075"/>
            </a:avLst>
          </a:prstGeom>
          <a:solidFill>
            <a:srgbClr val="182567"/>
          </a:solidFill>
          <a:ln w="4763">
            <a:solidFill>
              <a:srgbClr val="313E80"/>
            </a:solidFill>
            <a:prstDash val="solid"/>
          </a:ln>
        </p:spPr>
      </p:sp>
      <p:sp>
        <p:nvSpPr>
          <p:cNvPr id="10" name="Text 7"/>
          <p:cNvSpPr/>
          <p:nvPr/>
        </p:nvSpPr>
        <p:spPr>
          <a:xfrm>
            <a:off x="4053855" y="3809033"/>
            <a:ext cx="4465290" cy="387697"/>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Customer Service Rep: Delivers polished, professional responses in a concierge-style tone.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790501"/>
            <a:ext cx="4447803"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System Architecture at a Glance</a:t>
            </a:r>
            <a:endParaRPr lang="en-US" sz="2400" dirty="0"/>
          </a:p>
        </p:txBody>
      </p:sp>
      <p:sp>
        <p:nvSpPr>
          <p:cNvPr id="3" name="Text 1"/>
          <p:cNvSpPr/>
          <p:nvPr/>
        </p:nvSpPr>
        <p:spPr>
          <a:xfrm>
            <a:off x="496119" y="142607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The system is divided into four highly specialized,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decoupled modules</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This modular design ensures that the AI can converse naturally while the underlying math remains strictly deterministic and hallucination-free.</a:t>
            </a:r>
            <a:endParaRPr lang="en-US" sz="950" dirty="0"/>
          </a:p>
        </p:txBody>
      </p:sp>
      <p:sp>
        <p:nvSpPr>
          <p:cNvPr id="4" name="Shape 2"/>
          <p:cNvSpPr/>
          <p:nvPr/>
        </p:nvSpPr>
        <p:spPr>
          <a:xfrm>
            <a:off x="496119" y="1962522"/>
            <a:ext cx="4013895" cy="1036290"/>
          </a:xfrm>
          <a:prstGeom prst="roundRect">
            <a:avLst>
              <a:gd name="adj" fmla="val 5028"/>
            </a:avLst>
          </a:prstGeom>
          <a:solidFill>
            <a:srgbClr val="000018">
              <a:alpha val="95000"/>
            </a:srgbClr>
          </a:solidFill>
          <a:ln w="14288">
            <a:solidFill>
              <a:srgbClr val="313E80"/>
            </a:solidFill>
            <a:prstDash val="solid"/>
          </a:ln>
        </p:spPr>
      </p:sp>
      <p:sp>
        <p:nvSpPr>
          <p:cNvPr id="5" name="Shape 3"/>
          <p:cNvSpPr/>
          <p:nvPr/>
        </p:nvSpPr>
        <p:spPr>
          <a:xfrm>
            <a:off x="510406" y="1976810"/>
            <a:ext cx="3985320" cy="372070"/>
          </a:xfrm>
          <a:prstGeom prst="roundRect">
            <a:avLst>
              <a:gd name="adj" fmla="val 9395"/>
            </a:avLst>
          </a:prstGeom>
          <a:solidFill>
            <a:srgbClr val="182567"/>
          </a:solidFill>
          <a:ln/>
        </p:spPr>
      </p:sp>
      <p:sp>
        <p:nvSpPr>
          <p:cNvPr id="6" name="Text 4"/>
          <p:cNvSpPr/>
          <p:nvPr/>
        </p:nvSpPr>
        <p:spPr>
          <a:xfrm>
            <a:off x="2410048" y="2044154"/>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1</a:t>
            </a:r>
            <a:endParaRPr lang="en-US" sz="1450" dirty="0"/>
          </a:p>
        </p:txBody>
      </p:sp>
      <p:sp>
        <p:nvSpPr>
          <p:cNvPr id="7" name="Text 5"/>
          <p:cNvSpPr/>
          <p:nvPr/>
        </p:nvSpPr>
        <p:spPr>
          <a:xfrm>
            <a:off x="634380" y="2472854"/>
            <a:ext cx="3737372" cy="387697"/>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1. The Agent — Conversational Brain: Understands the user and speaks to them in natural language.</a:t>
            </a:r>
            <a:endParaRPr lang="en-US" sz="1200" dirty="0"/>
          </a:p>
        </p:txBody>
      </p:sp>
      <p:sp>
        <p:nvSpPr>
          <p:cNvPr id="8" name="Shape 6"/>
          <p:cNvSpPr/>
          <p:nvPr/>
        </p:nvSpPr>
        <p:spPr>
          <a:xfrm>
            <a:off x="4633987" y="1962522"/>
            <a:ext cx="4013895" cy="1036290"/>
          </a:xfrm>
          <a:prstGeom prst="roundRect">
            <a:avLst>
              <a:gd name="adj" fmla="val 5028"/>
            </a:avLst>
          </a:prstGeom>
          <a:solidFill>
            <a:srgbClr val="000018">
              <a:alpha val="95000"/>
            </a:srgbClr>
          </a:solidFill>
          <a:ln w="14288">
            <a:solidFill>
              <a:srgbClr val="313E80"/>
            </a:solidFill>
            <a:prstDash val="solid"/>
          </a:ln>
        </p:spPr>
      </p:sp>
      <p:sp>
        <p:nvSpPr>
          <p:cNvPr id="9" name="Shape 7"/>
          <p:cNvSpPr/>
          <p:nvPr/>
        </p:nvSpPr>
        <p:spPr>
          <a:xfrm>
            <a:off x="4648274" y="1976810"/>
            <a:ext cx="3985320" cy="372070"/>
          </a:xfrm>
          <a:prstGeom prst="roundRect">
            <a:avLst>
              <a:gd name="adj" fmla="val 9395"/>
            </a:avLst>
          </a:prstGeom>
          <a:solidFill>
            <a:srgbClr val="182567"/>
          </a:solidFill>
          <a:ln/>
        </p:spPr>
      </p:sp>
      <p:sp>
        <p:nvSpPr>
          <p:cNvPr id="10" name="Text 8"/>
          <p:cNvSpPr/>
          <p:nvPr/>
        </p:nvSpPr>
        <p:spPr>
          <a:xfrm>
            <a:off x="6547917" y="2044154"/>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2</a:t>
            </a:r>
            <a:endParaRPr lang="en-US" sz="1450" dirty="0"/>
          </a:p>
        </p:txBody>
      </p:sp>
      <p:sp>
        <p:nvSpPr>
          <p:cNvPr id="11" name="Text 9"/>
          <p:cNvSpPr/>
          <p:nvPr/>
        </p:nvSpPr>
        <p:spPr>
          <a:xfrm>
            <a:off x="4772248" y="2472854"/>
            <a:ext cx="3737372" cy="387697"/>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2. The Recommender — Search Engine: Finds the best properties based on hidden patterns.</a:t>
            </a:r>
            <a:endParaRPr lang="en-US" sz="1200" dirty="0"/>
          </a:p>
        </p:txBody>
      </p:sp>
      <p:sp>
        <p:nvSpPr>
          <p:cNvPr id="12" name="Shape 10"/>
          <p:cNvSpPr/>
          <p:nvPr/>
        </p:nvSpPr>
        <p:spPr>
          <a:xfrm>
            <a:off x="496119" y="3122786"/>
            <a:ext cx="4013895" cy="1230139"/>
          </a:xfrm>
          <a:prstGeom prst="roundRect">
            <a:avLst>
              <a:gd name="adj" fmla="val 4235"/>
            </a:avLst>
          </a:prstGeom>
          <a:solidFill>
            <a:srgbClr val="000018">
              <a:alpha val="95000"/>
            </a:srgbClr>
          </a:solidFill>
          <a:ln w="14288">
            <a:solidFill>
              <a:srgbClr val="313E80"/>
            </a:solidFill>
            <a:prstDash val="solid"/>
          </a:ln>
        </p:spPr>
      </p:sp>
      <p:sp>
        <p:nvSpPr>
          <p:cNvPr id="13" name="Shape 11"/>
          <p:cNvSpPr/>
          <p:nvPr/>
        </p:nvSpPr>
        <p:spPr>
          <a:xfrm>
            <a:off x="510406" y="3137074"/>
            <a:ext cx="3985320" cy="372070"/>
          </a:xfrm>
          <a:prstGeom prst="roundRect">
            <a:avLst>
              <a:gd name="adj" fmla="val 9395"/>
            </a:avLst>
          </a:prstGeom>
          <a:solidFill>
            <a:srgbClr val="182567"/>
          </a:solidFill>
          <a:ln/>
        </p:spPr>
      </p:sp>
      <p:sp>
        <p:nvSpPr>
          <p:cNvPr id="14" name="Text 12"/>
          <p:cNvSpPr/>
          <p:nvPr/>
        </p:nvSpPr>
        <p:spPr>
          <a:xfrm>
            <a:off x="2410048" y="320441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3</a:t>
            </a:r>
            <a:endParaRPr lang="en-US" sz="1450" dirty="0"/>
          </a:p>
        </p:txBody>
      </p:sp>
      <p:sp>
        <p:nvSpPr>
          <p:cNvPr id="15" name="Text 13"/>
          <p:cNvSpPr/>
          <p:nvPr/>
        </p:nvSpPr>
        <p:spPr>
          <a:xfrm>
            <a:off x="634380" y="3633118"/>
            <a:ext cx="3737372" cy="387697"/>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3. The Analyzer — Statistical Engine: Calculates whether a property is actually a good deal.</a:t>
            </a:r>
            <a:endParaRPr lang="en-US" sz="1200" dirty="0"/>
          </a:p>
        </p:txBody>
      </p:sp>
      <p:sp>
        <p:nvSpPr>
          <p:cNvPr id="16" name="Shape 14"/>
          <p:cNvSpPr/>
          <p:nvPr/>
        </p:nvSpPr>
        <p:spPr>
          <a:xfrm>
            <a:off x="4633987" y="3122786"/>
            <a:ext cx="4013895" cy="1230139"/>
          </a:xfrm>
          <a:prstGeom prst="roundRect">
            <a:avLst>
              <a:gd name="adj" fmla="val 4235"/>
            </a:avLst>
          </a:prstGeom>
          <a:solidFill>
            <a:srgbClr val="000018">
              <a:alpha val="95000"/>
            </a:srgbClr>
          </a:solidFill>
          <a:ln w="14288">
            <a:solidFill>
              <a:srgbClr val="313E80"/>
            </a:solidFill>
            <a:prstDash val="solid"/>
          </a:ln>
        </p:spPr>
      </p:sp>
      <p:sp>
        <p:nvSpPr>
          <p:cNvPr id="17" name="Shape 15"/>
          <p:cNvSpPr/>
          <p:nvPr/>
        </p:nvSpPr>
        <p:spPr>
          <a:xfrm>
            <a:off x="4648274" y="3137074"/>
            <a:ext cx="3985320" cy="372070"/>
          </a:xfrm>
          <a:prstGeom prst="roundRect">
            <a:avLst>
              <a:gd name="adj" fmla="val 9395"/>
            </a:avLst>
          </a:prstGeom>
          <a:solidFill>
            <a:srgbClr val="182567"/>
          </a:solidFill>
          <a:ln/>
        </p:spPr>
      </p:sp>
      <p:sp>
        <p:nvSpPr>
          <p:cNvPr id="18" name="Text 16"/>
          <p:cNvSpPr/>
          <p:nvPr/>
        </p:nvSpPr>
        <p:spPr>
          <a:xfrm>
            <a:off x="6547917" y="320441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4</a:t>
            </a:r>
            <a:endParaRPr lang="en-US" sz="1450" dirty="0"/>
          </a:p>
        </p:txBody>
      </p:sp>
      <p:sp>
        <p:nvSpPr>
          <p:cNvPr id="19" name="Text 17"/>
          <p:cNvSpPr/>
          <p:nvPr/>
        </p:nvSpPr>
        <p:spPr>
          <a:xfrm>
            <a:off x="4772248" y="3633118"/>
            <a:ext cx="3737372"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4. The Data Pipeline — The Foundation: Ensures all modules are looking at pristine, synchronized information.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60127"/>
            <a:ext cx="5639693"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Module 1: The AI Agent — The Concierge</a:t>
            </a:r>
            <a:endParaRPr lang="en-US" sz="2400" dirty="0"/>
          </a:p>
        </p:txBody>
      </p:sp>
      <p:sp>
        <p:nvSpPr>
          <p:cNvPr id="3" name="Text 1"/>
          <p:cNvSpPr/>
          <p:nvPr/>
        </p:nvSpPr>
        <p:spPr>
          <a:xfrm>
            <a:off x="496119" y="1295698"/>
            <a:ext cx="8151763"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Goal:</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To provide a flawless, human-like conversational interface. A user can say, </a:t>
            </a:r>
            <a:pPr algn="l" indent="0" marL="0">
              <a:lnSpc>
                <a:spcPts val="1550"/>
              </a:lnSpc>
              <a:buNone/>
            </a:pPr>
            <a:r>
              <a:rPr lang="en-US" sz="950" i="1" dirty="0">
                <a:solidFill>
                  <a:srgbClr val="CFD0D8"/>
                </a:solidFill>
                <a:latin typeface="Roboto" pitchFamily="34" charset="0"/>
                <a:ea typeface="Roboto" pitchFamily="34" charset="-122"/>
                <a:cs typeface="Roboto" pitchFamily="34" charset="-120"/>
              </a:rPr>
              <a:t>"I want a 3-bedroom apartment in Zayed under 15 million, but it must have a pool."</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The Agent handles this using a State Machine workflow with four distinct roles.</a:t>
            </a:r>
            <a:endParaRPr lang="en-US" sz="950" dirty="0"/>
          </a:p>
        </p:txBody>
      </p:sp>
      <p:pic>
        <p:nvPicPr>
          <p:cNvPr id="4" name="Image 0" descr="preencoded.png">    </p:cNvPr>
          <p:cNvPicPr>
            <a:picLocks noChangeAspect="1"/>
          </p:cNvPicPr>
          <p:nvPr/>
        </p:nvPicPr>
        <p:blipFill>
          <a:blip r:embed="rId1"/>
          <a:stretch>
            <a:fillRect/>
          </a:stretch>
        </p:blipFill>
        <p:spPr>
          <a:xfrm>
            <a:off x="496119" y="1832149"/>
            <a:ext cx="4075881" cy="496119"/>
          </a:xfrm>
          <a:prstGeom prst="rect">
            <a:avLst/>
          </a:prstGeom>
        </p:spPr>
      </p:pic>
      <p:sp>
        <p:nvSpPr>
          <p:cNvPr id="5" name="Text 2"/>
          <p:cNvSpPr/>
          <p:nvPr/>
        </p:nvSpPr>
        <p:spPr>
          <a:xfrm>
            <a:off x="620092" y="2452241"/>
            <a:ext cx="3827934"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The Brain: Intent Parsing — reads text, identifies the goal (buy/sell), and extracts budget, location, and amenity constraints.</a:t>
            </a:r>
            <a:endParaRPr lang="en-US" sz="1200" dirty="0"/>
          </a:p>
        </p:txBody>
      </p:sp>
      <p:pic>
        <p:nvPicPr>
          <p:cNvPr id="6" name="Image 1" descr="preencoded.png">    </p:cNvPr>
          <p:cNvPicPr>
            <a:picLocks noChangeAspect="1"/>
          </p:cNvPicPr>
          <p:nvPr/>
        </p:nvPicPr>
        <p:blipFill>
          <a:blip r:embed="rId2"/>
          <a:stretch>
            <a:fillRect/>
          </a:stretch>
        </p:blipFill>
        <p:spPr>
          <a:xfrm>
            <a:off x="4572000" y="1832149"/>
            <a:ext cx="4075881" cy="496119"/>
          </a:xfrm>
          <a:prstGeom prst="rect">
            <a:avLst/>
          </a:prstGeom>
        </p:spPr>
      </p:pic>
      <p:sp>
        <p:nvSpPr>
          <p:cNvPr id="7" name="Text 3"/>
          <p:cNvSpPr/>
          <p:nvPr/>
        </p:nvSpPr>
        <p:spPr>
          <a:xfrm>
            <a:off x="4695974" y="2452241"/>
            <a:ext cx="3827934"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The Hands: Tool Execution — routes constraints to the Recommender and Analyzer to fetch actual database results.</a:t>
            </a:r>
            <a:endParaRPr lang="en-US" sz="1200" dirty="0"/>
          </a:p>
        </p:txBody>
      </p:sp>
      <p:pic>
        <p:nvPicPr>
          <p:cNvPr id="8" name="Image 2" descr="preencoded.png">    </p:cNvPr>
          <p:cNvPicPr>
            <a:picLocks noChangeAspect="1"/>
          </p:cNvPicPr>
          <p:nvPr/>
        </p:nvPicPr>
        <p:blipFill>
          <a:blip r:embed="rId3"/>
          <a:stretch>
            <a:fillRect/>
          </a:stretch>
        </p:blipFill>
        <p:spPr>
          <a:xfrm>
            <a:off x="496119" y="3157761"/>
            <a:ext cx="4075881" cy="496119"/>
          </a:xfrm>
          <a:prstGeom prst="rect">
            <a:avLst/>
          </a:prstGeom>
        </p:spPr>
      </p:pic>
      <p:sp>
        <p:nvSpPr>
          <p:cNvPr id="9" name="Text 4"/>
          <p:cNvSpPr/>
          <p:nvPr/>
        </p:nvSpPr>
        <p:spPr>
          <a:xfrm>
            <a:off x="620092" y="3777853"/>
            <a:ext cx="3827934"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The Tongue: Narrative Generation — weaves raw numbers into a polite, professional, concierge-style response.</a:t>
            </a:r>
            <a:endParaRPr lang="en-US" sz="1200" dirty="0"/>
          </a:p>
        </p:txBody>
      </p:sp>
      <p:pic>
        <p:nvPicPr>
          <p:cNvPr id="10" name="Image 3" descr="preencoded.png">    </p:cNvPr>
          <p:cNvPicPr>
            <a:picLocks noChangeAspect="1"/>
          </p:cNvPicPr>
          <p:nvPr/>
        </p:nvPicPr>
        <p:blipFill>
          <a:blip r:embed="rId4"/>
          <a:stretch>
            <a:fillRect/>
          </a:stretch>
        </p:blipFill>
        <p:spPr>
          <a:xfrm>
            <a:off x="4572000" y="3157761"/>
            <a:ext cx="4075881" cy="496119"/>
          </a:xfrm>
          <a:prstGeom prst="rect">
            <a:avLst/>
          </a:prstGeom>
        </p:spPr>
      </p:pic>
      <p:sp>
        <p:nvSpPr>
          <p:cNvPr id="11" name="Text 5"/>
          <p:cNvSpPr/>
          <p:nvPr/>
        </p:nvSpPr>
        <p:spPr>
          <a:xfrm>
            <a:off x="4695974" y="3777853"/>
            <a:ext cx="3827934"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The Auditor: Quality Assurance — an internal AI catches hallucinations or data misreads and forces a rewrite before the user sees the message.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971327"/>
            <a:ext cx="7444755"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Module 2: The Recommender — The Discovery Engine</a:t>
            </a:r>
            <a:endParaRPr lang="en-US" sz="2400" dirty="0"/>
          </a:p>
        </p:txBody>
      </p:sp>
      <p:sp>
        <p:nvSpPr>
          <p:cNvPr id="3" name="Text 1"/>
          <p:cNvSpPr/>
          <p:nvPr/>
        </p:nvSpPr>
        <p:spPr>
          <a:xfrm>
            <a:off x="496119" y="1606897"/>
            <a:ext cx="8151763"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Goal:</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To find the perfect property, even if the user doesn't know exactly how to describe it. Traditional search engines fail if a user misspells a word or asks for something slightly out of budget. The Recommender uses advanced Machine Learning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FAISS and XGBoost</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to search "smarter."</a:t>
            </a:r>
            <a:endParaRPr lang="en-US" sz="950" dirty="0"/>
          </a:p>
        </p:txBody>
      </p:sp>
      <p:pic>
        <p:nvPicPr>
          <p:cNvPr id="4" name="Image 0" descr="preencoded.png">    </p:cNvPr>
          <p:cNvPicPr>
            <a:picLocks noChangeAspect="1"/>
          </p:cNvPicPr>
          <p:nvPr/>
        </p:nvPicPr>
        <p:blipFill>
          <a:blip r:embed="rId1"/>
          <a:stretch>
            <a:fillRect/>
          </a:stretch>
        </p:blipFill>
        <p:spPr>
          <a:xfrm>
            <a:off x="496119" y="2143348"/>
            <a:ext cx="1150069" cy="710729"/>
          </a:xfrm>
          <a:prstGeom prst="rect">
            <a:avLst/>
          </a:prstGeom>
        </p:spPr>
      </p:pic>
      <p:sp>
        <p:nvSpPr>
          <p:cNvPr id="5" name="Text 2"/>
          <p:cNvSpPr/>
          <p:nvPr/>
        </p:nvSpPr>
        <p:spPr>
          <a:xfrm>
            <a:off x="496119" y="3009081"/>
            <a:ext cx="2613868" cy="775395"/>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Semantic Search: Actually </a:t>
            </a:r>
            <a:pPr algn="l" indent="0" marL="0">
              <a:lnSpc>
                <a:spcPts val="1500"/>
              </a:lnSpc>
              <a:buNone/>
            </a:pPr>
            <a:r>
              <a:rPr lang="en-US" sz="1200" i="1" dirty="0">
                <a:solidFill>
                  <a:srgbClr val="CFD0D8"/>
                </a:solidFill>
                <a:latin typeface="Roboto Medium" pitchFamily="34" charset="0"/>
                <a:ea typeface="Roboto Medium" pitchFamily="34" charset="-122"/>
                <a:cs typeface="Roboto Medium" pitchFamily="34" charset="-120"/>
              </a:rPr>
              <a:t>reads</a:t>
            </a:r>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 property descriptions. If a user asks for a "quiet place," it knows which properties match that vibe.</a:t>
            </a:r>
            <a:endParaRPr lang="en-US" sz="1200" dirty="0"/>
          </a:p>
        </p:txBody>
      </p:sp>
      <p:pic>
        <p:nvPicPr>
          <p:cNvPr id="6" name="Image 1" descr="preencoded.png">    </p:cNvPr>
          <p:cNvPicPr>
            <a:picLocks noChangeAspect="1"/>
          </p:cNvPicPr>
          <p:nvPr/>
        </p:nvPicPr>
        <p:blipFill>
          <a:blip r:embed="rId2"/>
          <a:stretch>
            <a:fillRect/>
          </a:stretch>
        </p:blipFill>
        <p:spPr>
          <a:xfrm>
            <a:off x="3264991" y="2143348"/>
            <a:ext cx="1150069" cy="710729"/>
          </a:xfrm>
          <a:prstGeom prst="rect">
            <a:avLst/>
          </a:prstGeom>
        </p:spPr>
      </p:pic>
      <p:sp>
        <p:nvSpPr>
          <p:cNvPr id="7" name="Text 3"/>
          <p:cNvSpPr/>
          <p:nvPr/>
        </p:nvSpPr>
        <p:spPr>
          <a:xfrm>
            <a:off x="3264991" y="3009081"/>
            <a:ext cx="2613943" cy="1163092"/>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Behavioral Personas: Trained by simulating different types of human buyers (e.g., "The Bargain Hunter" vs "The Luxury Elite"). Ranks properties based on what the specific user cares about most.</a:t>
            </a:r>
            <a:endParaRPr lang="en-US" sz="1200" dirty="0"/>
          </a:p>
        </p:txBody>
      </p:sp>
      <p:pic>
        <p:nvPicPr>
          <p:cNvPr id="8" name="Image 2" descr="preencoded.png">    </p:cNvPr>
          <p:cNvPicPr>
            <a:picLocks noChangeAspect="1"/>
          </p:cNvPicPr>
          <p:nvPr/>
        </p:nvPicPr>
        <p:blipFill>
          <a:blip r:embed="rId3"/>
          <a:stretch>
            <a:fillRect/>
          </a:stretch>
        </p:blipFill>
        <p:spPr>
          <a:xfrm>
            <a:off x="6033939" y="2143348"/>
            <a:ext cx="1150069" cy="710729"/>
          </a:xfrm>
          <a:prstGeom prst="rect">
            <a:avLst/>
          </a:prstGeom>
        </p:spPr>
      </p:pic>
      <p:sp>
        <p:nvSpPr>
          <p:cNvPr id="9" name="Text 4"/>
          <p:cNvSpPr/>
          <p:nvPr/>
        </p:nvSpPr>
        <p:spPr>
          <a:xfrm>
            <a:off x="6033939" y="3009081"/>
            <a:ext cx="2613943" cy="969243"/>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Diversity Checks: Actively prevents showing the user 10 identical apartments in the exact same building, ensuring a geographically diverse set of options.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322115"/>
            <a:ext cx="5989141"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Module 3: The Analyzer — The Truth Engine</a:t>
            </a:r>
            <a:endParaRPr lang="en-US" sz="2400" dirty="0"/>
          </a:p>
        </p:txBody>
      </p:sp>
      <p:sp>
        <p:nvSpPr>
          <p:cNvPr id="3" name="Text 1"/>
          <p:cNvSpPr/>
          <p:nvPr/>
        </p:nvSpPr>
        <p:spPr>
          <a:xfrm>
            <a:off x="496119" y="1957685"/>
            <a:ext cx="8151763"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Goal:</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To protect the user from bad investments and provide objective market intelligence. Large Language Models are terrible at math — therefore, the Agent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never guesses</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if a property is a good deal. It asks the Analyzer.</a:t>
            </a:r>
            <a:endParaRPr lang="en-US" sz="950" dirty="0"/>
          </a:p>
        </p:txBody>
      </p:sp>
      <p:sp>
        <p:nvSpPr>
          <p:cNvPr id="4" name="Shape 2"/>
          <p:cNvSpPr/>
          <p:nvPr/>
        </p:nvSpPr>
        <p:spPr>
          <a:xfrm>
            <a:off x="406822" y="2494136"/>
            <a:ext cx="4103191" cy="1327175"/>
          </a:xfrm>
          <a:prstGeom prst="roundRect">
            <a:avLst>
              <a:gd name="adj" fmla="val 6730"/>
            </a:avLst>
          </a:prstGeom>
          <a:solidFill>
            <a:srgbClr val="5A6ED8">
              <a:alpha val="95000"/>
            </a:srgbClr>
          </a:solidFill>
          <a:ln/>
        </p:spPr>
      </p:sp>
      <p:sp>
        <p:nvSpPr>
          <p:cNvPr id="5" name="Text 3"/>
          <p:cNvSpPr/>
          <p:nvPr/>
        </p:nvSpPr>
        <p:spPr>
          <a:xfrm>
            <a:off x="530796" y="2605757"/>
            <a:ext cx="3855244" cy="793849"/>
          </a:xfrm>
          <a:prstGeom prst="rect">
            <a:avLst/>
          </a:prstGeom>
          <a:noFill/>
          <a:ln/>
        </p:spPr>
        <p:txBody>
          <a:bodyPr wrap="square" lIns="0" tIns="0" rIns="0" bIns="0" rtlCol="0" anchor="t"/>
          <a:lstStyle/>
          <a:p>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Fair Price Estimator:</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Analyzes the micro-market (e.g., specifically 3-bedroom apartments in New Cairo) and calculates the exact mathematical median. Verdicts whether the asking price is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Highly Competitive</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Fair</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Premium</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or </a:t>
            </a:r>
            <a:pPr algn="l" indent="0" marL="0">
              <a:lnSpc>
                <a:spcPts val="1550"/>
              </a:lnSpc>
              <a:buNone/>
            </a:pPr>
            <a:r>
              <a:rPr lang="en-US" sz="950" b="1" dirty="0">
                <a:solidFill>
                  <a:srgbClr val="000000"/>
                </a:solidFill>
                <a:latin typeface="Roboto" pitchFamily="34" charset="0"/>
                <a:ea typeface="Roboto" pitchFamily="34" charset="-122"/>
                <a:cs typeface="Roboto" pitchFamily="34" charset="-120"/>
              </a:rPr>
              <a:t>Overpriced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
        <p:nvSpPr>
          <p:cNvPr id="6" name="Text 4"/>
          <p:cNvSpPr/>
          <p:nvPr/>
        </p:nvSpPr>
        <p:spPr>
          <a:xfrm>
            <a:off x="4728046" y="2605757"/>
            <a:ext cx="3924598"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Investment Gems:</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Actively scans the database to find properties priced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15%+ below</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their true market value.</a:t>
            </a:r>
            <a:endParaRPr lang="en-US" sz="950" dirty="0"/>
          </a:p>
        </p:txBody>
      </p:sp>
      <p:sp>
        <p:nvSpPr>
          <p:cNvPr id="7" name="Text 5"/>
          <p:cNvSpPr/>
          <p:nvPr/>
        </p:nvSpPr>
        <p:spPr>
          <a:xfrm>
            <a:off x="4728046" y="3114303"/>
            <a:ext cx="3924598" cy="595387"/>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Trade-off Advisor:</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Tells the user what happens if they compromise. For example: </a:t>
            </a:r>
            <a:pPr algn="l" indent="0" marL="0">
              <a:lnSpc>
                <a:spcPts val="1550"/>
              </a:lnSpc>
              <a:buNone/>
            </a:pPr>
            <a:r>
              <a:rPr lang="en-US" sz="950" i="1" dirty="0">
                <a:solidFill>
                  <a:srgbClr val="CFD0D8"/>
                </a:solidFill>
                <a:latin typeface="Roboto" pitchFamily="34" charset="0"/>
                <a:ea typeface="Roboto" pitchFamily="34" charset="-122"/>
                <a:cs typeface="Roboto" pitchFamily="34" charset="-120"/>
              </a:rPr>
              <a:t>"If you increase your budget by just 10%, you unlock 45 more premium properties."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2311"/>
            <a:ext cx="6431682"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Module 4: The Data Pipeline — The Foundation</a:t>
            </a:r>
            <a:endParaRPr lang="en-US" sz="2400" dirty="0"/>
          </a:p>
        </p:txBody>
      </p:sp>
      <p:sp>
        <p:nvSpPr>
          <p:cNvPr id="3" name="Text 1"/>
          <p:cNvSpPr/>
          <p:nvPr/>
        </p:nvSpPr>
        <p:spPr>
          <a:xfrm>
            <a:off x="496119" y="1027881"/>
            <a:ext cx="8151763"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Goal:</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To prevent logical drift across the system. If the Recommender is looking at data from Tuesday, but the Analyzer is looking at data from Monday, the system will output conflicting advice.</a:t>
            </a:r>
            <a:endParaRPr lang="en-US" sz="950" dirty="0"/>
          </a:p>
        </p:txBody>
      </p:sp>
      <p:pic>
        <p:nvPicPr>
          <p:cNvPr id="4" name="Image 0" descr="preencoded.png">    </p:cNvPr>
          <p:cNvPicPr>
            <a:picLocks noChangeAspect="1"/>
          </p:cNvPicPr>
          <p:nvPr/>
        </p:nvPicPr>
        <p:blipFill>
          <a:blip r:embed="rId1"/>
          <a:stretch>
            <a:fillRect/>
          </a:stretch>
        </p:blipFill>
        <p:spPr>
          <a:xfrm>
            <a:off x="911200" y="1564332"/>
            <a:ext cx="7321525" cy="2650406"/>
          </a:xfrm>
          <a:prstGeom prst="rect">
            <a:avLst/>
          </a:prstGeom>
        </p:spPr>
      </p:pic>
      <p:sp>
        <p:nvSpPr>
          <p:cNvPr id="5" name="Text 2"/>
          <p:cNvSpPr/>
          <p:nvPr/>
        </p:nvSpPr>
        <p:spPr>
          <a:xfrm>
            <a:off x="1448656" y="3567774"/>
            <a:ext cx="1834114" cy="229264"/>
          </a:xfrm>
          <a:prstGeom prst="rect">
            <a:avLst/>
          </a:prstGeom>
          <a:noFill/>
          <a:ln/>
        </p:spPr>
        <p:txBody>
          <a:bodyPr wrap="none" lIns="0" tIns="0" rIns="0" bIns="0" rtlCol="0" anchor="t"/>
          <a:lstStyle/>
          <a:p>
            <a:pPr algn="l" indent="0" marL="0">
              <a:lnSpc>
                <a:spcPts val="1800"/>
              </a:lnSpc>
              <a:buNone/>
            </a:pPr>
            <a:r>
              <a:rPr lang="en-US" sz="1400" dirty="0">
                <a:solidFill>
                  <a:srgbClr val="FFFFFF"/>
                </a:solidFill>
                <a:latin typeface="Roboto Medium" pitchFamily="34" charset="0"/>
                <a:ea typeface="Roboto Medium" pitchFamily="34" charset="-122"/>
                <a:cs typeface="Roboto Medium" pitchFamily="34" charset="-120"/>
              </a:rPr>
              <a:t>Module Consumption</a:t>
            </a:r>
            <a:endParaRPr lang="en-US" sz="1400" dirty="0"/>
          </a:p>
        </p:txBody>
      </p:sp>
      <p:sp>
        <p:nvSpPr>
          <p:cNvPr id="6" name="Text 3"/>
          <p:cNvSpPr/>
          <p:nvPr/>
        </p:nvSpPr>
        <p:spPr>
          <a:xfrm>
            <a:off x="1448656" y="2768916"/>
            <a:ext cx="1834114" cy="229264"/>
          </a:xfrm>
          <a:prstGeom prst="rect">
            <a:avLst/>
          </a:prstGeom>
          <a:noFill/>
          <a:ln/>
        </p:spPr>
        <p:txBody>
          <a:bodyPr wrap="none" lIns="0" tIns="0" rIns="0" bIns="0" rtlCol="0" anchor="t"/>
          <a:lstStyle/>
          <a:p>
            <a:pPr algn="l" indent="0" marL="0">
              <a:lnSpc>
                <a:spcPts val="1800"/>
              </a:lnSpc>
              <a:buNone/>
            </a:pPr>
            <a:r>
              <a:rPr lang="en-US" sz="1400" dirty="0">
                <a:solidFill>
                  <a:srgbClr val="FFFFFF"/>
                </a:solidFill>
                <a:latin typeface="Roboto Medium" pitchFamily="34" charset="0"/>
                <a:ea typeface="Roboto Medium" pitchFamily="34" charset="-122"/>
                <a:cs typeface="Roboto Medium" pitchFamily="34" charset="-120"/>
              </a:rPr>
              <a:t>Contract Enforcement</a:t>
            </a:r>
            <a:endParaRPr lang="en-US" sz="1400" dirty="0"/>
          </a:p>
        </p:txBody>
      </p:sp>
      <p:sp>
        <p:nvSpPr>
          <p:cNvPr id="7" name="Text 4"/>
          <p:cNvSpPr/>
          <p:nvPr/>
        </p:nvSpPr>
        <p:spPr>
          <a:xfrm>
            <a:off x="1448656" y="1961906"/>
            <a:ext cx="1834114" cy="229264"/>
          </a:xfrm>
          <a:prstGeom prst="rect">
            <a:avLst/>
          </a:prstGeom>
          <a:noFill/>
          <a:ln/>
        </p:spPr>
        <p:txBody>
          <a:bodyPr wrap="none" lIns="0" tIns="0" rIns="0" bIns="0" rtlCol="0" anchor="t"/>
          <a:lstStyle/>
          <a:p>
            <a:pPr algn="l" indent="0" marL="0">
              <a:lnSpc>
                <a:spcPts val="1800"/>
              </a:lnSpc>
              <a:buNone/>
            </a:pPr>
            <a:r>
              <a:rPr lang="en-US" sz="1400" dirty="0">
                <a:solidFill>
                  <a:srgbClr val="FFFFFF"/>
                </a:solidFill>
                <a:latin typeface="Roboto Medium" pitchFamily="34" charset="0"/>
                <a:ea typeface="Roboto Medium" pitchFamily="34" charset="-122"/>
                <a:cs typeface="Roboto Medium" pitchFamily="34" charset="-120"/>
              </a:rPr>
              <a:t>Raw Ingestion</a:t>
            </a:r>
            <a:endParaRPr lang="en-US" sz="1400" dirty="0"/>
          </a:p>
        </p:txBody>
      </p:sp>
      <p:sp>
        <p:nvSpPr>
          <p:cNvPr id="8" name="Text 5"/>
          <p:cNvSpPr/>
          <p:nvPr/>
        </p:nvSpPr>
        <p:spPr>
          <a:xfrm>
            <a:off x="496119" y="435426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The Data Pipeline enforces a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Data Contract</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It cleans the raw catalog (removing fake prices and deduplicating listings) and exports a pristine, locked file. Both the Recommender and Analyzer are forced to read from this exact same file, ensuring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100% synchronization</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053257"/>
            <a:ext cx="4251275"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The User Journey — Steps 1–3</a:t>
            </a:r>
            <a:endParaRPr lang="en-US" sz="2400" dirty="0"/>
          </a:p>
        </p:txBody>
      </p:sp>
      <p:sp>
        <p:nvSpPr>
          <p:cNvPr id="4" name="Text 1"/>
          <p:cNvSpPr/>
          <p:nvPr/>
        </p:nvSpPr>
        <p:spPr>
          <a:xfrm>
            <a:off x="3925119" y="1626840"/>
            <a:ext cx="4722763" cy="396925"/>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Here is how all four modules work together in a real-world scenario, from the moment a user types a request to the system delivering a personalized response.</a:t>
            </a:r>
            <a:endParaRPr lang="en-US" sz="950" dirty="0"/>
          </a:p>
        </p:txBody>
      </p:sp>
      <p:sp>
        <p:nvSpPr>
          <p:cNvPr id="5" name="Shape 2"/>
          <p:cNvSpPr/>
          <p:nvPr/>
        </p:nvSpPr>
        <p:spPr>
          <a:xfrm>
            <a:off x="3925119" y="2163291"/>
            <a:ext cx="279053" cy="279053"/>
          </a:xfrm>
          <a:prstGeom prst="roundRect">
            <a:avLst>
              <a:gd name="adj" fmla="val 18670"/>
            </a:avLst>
          </a:prstGeom>
          <a:solidFill>
            <a:srgbClr val="182567"/>
          </a:solidFill>
          <a:ln w="4763">
            <a:solidFill>
              <a:srgbClr val="313E80"/>
            </a:solidFill>
            <a:prstDash val="solid"/>
          </a:ln>
        </p:spPr>
      </p:sp>
      <p:sp>
        <p:nvSpPr>
          <p:cNvPr id="6" name="Text 3"/>
          <p:cNvSpPr/>
          <p:nvPr/>
        </p:nvSpPr>
        <p:spPr>
          <a:xfrm>
            <a:off x="3971627" y="2186546"/>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1</a:t>
            </a:r>
            <a:endParaRPr lang="en-US" sz="1450" dirty="0"/>
          </a:p>
        </p:txBody>
      </p:sp>
      <p:sp>
        <p:nvSpPr>
          <p:cNvPr id="7" name="Text 4"/>
          <p:cNvSpPr/>
          <p:nvPr/>
        </p:nvSpPr>
        <p:spPr>
          <a:xfrm>
            <a:off x="4328145" y="2205930"/>
            <a:ext cx="1880815" cy="775395"/>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1. The Request: A user types: </a:t>
            </a:r>
            <a:pPr algn="l" indent="0" marL="0">
              <a:lnSpc>
                <a:spcPts val="1500"/>
              </a:lnSpc>
              <a:buNone/>
            </a:pPr>
            <a:r>
              <a:rPr lang="en-US" sz="1200" b="1" dirty="0">
                <a:solidFill>
                  <a:srgbClr val="CFD0D8"/>
                </a:solidFill>
                <a:latin typeface="Roboto Medium" pitchFamily="34" charset="0"/>
                <a:ea typeface="Roboto Medium" pitchFamily="34" charset="-122"/>
                <a:cs typeface="Roboto Medium" pitchFamily="34" charset="-120"/>
              </a:rPr>
              <a:t>"Find me a luxury villa in Maadi, is 20 million enough?"</a:t>
            </a:r>
            <a:endParaRPr lang="en-US" sz="1200" dirty="0"/>
          </a:p>
        </p:txBody>
      </p:sp>
      <p:sp>
        <p:nvSpPr>
          <p:cNvPr id="8" name="Shape 5"/>
          <p:cNvSpPr/>
          <p:nvPr/>
        </p:nvSpPr>
        <p:spPr>
          <a:xfrm>
            <a:off x="6363965" y="2163291"/>
            <a:ext cx="279053" cy="279053"/>
          </a:xfrm>
          <a:prstGeom prst="roundRect">
            <a:avLst>
              <a:gd name="adj" fmla="val 18670"/>
            </a:avLst>
          </a:prstGeom>
          <a:solidFill>
            <a:srgbClr val="182567"/>
          </a:solidFill>
          <a:ln w="4763">
            <a:solidFill>
              <a:srgbClr val="313E80"/>
            </a:solidFill>
            <a:prstDash val="solid"/>
          </a:ln>
        </p:spPr>
      </p:sp>
      <p:sp>
        <p:nvSpPr>
          <p:cNvPr id="9" name="Text 6"/>
          <p:cNvSpPr/>
          <p:nvPr/>
        </p:nvSpPr>
        <p:spPr>
          <a:xfrm>
            <a:off x="6410474" y="2186546"/>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2</a:t>
            </a:r>
            <a:endParaRPr lang="en-US" sz="1450" dirty="0"/>
          </a:p>
        </p:txBody>
      </p:sp>
      <p:sp>
        <p:nvSpPr>
          <p:cNvPr id="10" name="Text 7"/>
          <p:cNvSpPr/>
          <p:nvPr/>
        </p:nvSpPr>
        <p:spPr>
          <a:xfrm>
            <a:off x="6766992" y="2205930"/>
            <a:ext cx="1880890" cy="101210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2. Understanding: The </a:t>
            </a:r>
            <a:pPr algn="l" indent="0" marL="0">
              <a:lnSpc>
                <a:spcPts val="1500"/>
              </a:lnSpc>
              <a:buNone/>
            </a:pPr>
            <a:r>
              <a:rPr lang="en-US" sz="1200" b="1" dirty="0">
                <a:solidFill>
                  <a:srgbClr val="CFD0D8"/>
                </a:solidFill>
                <a:latin typeface="Roboto Medium" pitchFamily="34" charset="0"/>
                <a:ea typeface="Roboto Medium" pitchFamily="34" charset="-122"/>
                <a:cs typeface="Roboto Medium" pitchFamily="34" charset="-120"/>
              </a:rPr>
              <a:t>Agent's Brain</a:t>
            </a:r>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 extracts: </a:t>
            </a:r>
            <a:pPr algn="l" indent="0" marL="0">
              <a:lnSpc>
                <a:spcPts val="1500"/>
              </a:lnSpc>
              <a:buNone/>
            </a:pPr>
            <a:r>
              <a:rPr lang="en-US" sz="1200" dirty="0">
                <a:solidFill>
                  <a:srgbClr val="CFD0D8"/>
                </a:solidFill>
                <a:highlight>
                  <a:srgbClr val="0D0D25"/>
                </a:highlight>
                <a:latin typeface="Consolas" pitchFamily="34" charset="0"/>
                <a:ea typeface="Consolas" pitchFamily="34" charset="-122"/>
                <a:cs typeface="Consolas" pitchFamily="34" charset="-120"/>
              </a:rPr>
              <a:t>Category: Buy, Type: Villa, Town: Maadi, Max Price: 20M.</a:t>
            </a:r>
            <a:endParaRPr lang="en-US" sz="1200" dirty="0"/>
          </a:p>
        </p:txBody>
      </p:sp>
      <p:sp>
        <p:nvSpPr>
          <p:cNvPr id="11" name="Shape 8"/>
          <p:cNvSpPr/>
          <p:nvPr/>
        </p:nvSpPr>
        <p:spPr>
          <a:xfrm>
            <a:off x="3925119" y="3466058"/>
            <a:ext cx="279053" cy="279053"/>
          </a:xfrm>
          <a:prstGeom prst="roundRect">
            <a:avLst>
              <a:gd name="adj" fmla="val 18670"/>
            </a:avLst>
          </a:prstGeom>
          <a:solidFill>
            <a:srgbClr val="182567"/>
          </a:solidFill>
          <a:ln w="4763">
            <a:solidFill>
              <a:srgbClr val="313E80"/>
            </a:solidFill>
            <a:prstDash val="solid"/>
          </a:ln>
        </p:spPr>
      </p:sp>
      <p:sp>
        <p:nvSpPr>
          <p:cNvPr id="12" name="Text 9"/>
          <p:cNvSpPr/>
          <p:nvPr/>
        </p:nvSpPr>
        <p:spPr>
          <a:xfrm>
            <a:off x="3971627" y="3489313"/>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3</a:t>
            </a:r>
            <a:endParaRPr lang="en-US" sz="1450" dirty="0"/>
          </a:p>
        </p:txBody>
      </p:sp>
      <p:sp>
        <p:nvSpPr>
          <p:cNvPr id="13" name="Text 10"/>
          <p:cNvSpPr/>
          <p:nvPr/>
        </p:nvSpPr>
        <p:spPr>
          <a:xfrm>
            <a:off x="4328145" y="3508697"/>
            <a:ext cx="4319736" cy="581546"/>
          </a:xfrm>
          <a:prstGeom prst="rect">
            <a:avLst/>
          </a:prstGeom>
          <a:noFill/>
          <a:ln/>
        </p:spPr>
        <p:txBody>
          <a:bodyPr wrap="square" lIns="0" tIns="0" rIns="0" bIns="0" rtlCol="0" anchor="t"/>
          <a:lstStyle/>
          <a:p>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3. Searching: The </a:t>
            </a:r>
            <a:pPr algn="l" indent="0" marL="0">
              <a:lnSpc>
                <a:spcPts val="1500"/>
              </a:lnSpc>
              <a:buNone/>
            </a:pPr>
            <a:r>
              <a:rPr lang="en-US" sz="1200" b="1" dirty="0">
                <a:solidFill>
                  <a:srgbClr val="CFD0D8"/>
                </a:solidFill>
                <a:latin typeface="Roboto Medium" pitchFamily="34" charset="0"/>
                <a:ea typeface="Roboto Medium" pitchFamily="34" charset="-122"/>
                <a:cs typeface="Roboto Medium" pitchFamily="34" charset="-120"/>
              </a:rPr>
              <a:t>Recommender</a:t>
            </a:r>
            <a:pPr algn="l" indent="0" marL="0">
              <a:lnSpc>
                <a:spcPts val="1500"/>
              </a:lnSpc>
              <a:buNone/>
            </a:pPr>
            <a:r>
              <a:rPr lang="en-US" sz="1200" dirty="0">
                <a:solidFill>
                  <a:srgbClr val="CFD0D8"/>
                </a:solidFill>
                <a:latin typeface="Roboto Medium" pitchFamily="34" charset="0"/>
                <a:ea typeface="Roboto Medium" pitchFamily="34" charset="-122"/>
                <a:cs typeface="Roboto Medium" pitchFamily="34" charset="-120"/>
              </a:rPr>
              <a:t> pulls the top 10 Villas in Maadi that match the luxury vibe, ensuring they aren't all on the exact same street.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227609"/>
            <a:ext cx="4251275"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The User Journey — Steps 4–6</a:t>
            </a:r>
            <a:endParaRPr lang="en-US" sz="2400" dirty="0"/>
          </a:p>
        </p:txBody>
      </p:sp>
      <p:sp>
        <p:nvSpPr>
          <p:cNvPr id="4" name="Shape 1"/>
          <p:cNvSpPr/>
          <p:nvPr/>
        </p:nvSpPr>
        <p:spPr>
          <a:xfrm>
            <a:off x="496119" y="1801192"/>
            <a:ext cx="279053" cy="279053"/>
          </a:xfrm>
          <a:prstGeom prst="roundRect">
            <a:avLst>
              <a:gd name="adj" fmla="val 18670"/>
            </a:avLst>
          </a:prstGeom>
          <a:solidFill>
            <a:srgbClr val="182567"/>
          </a:solidFill>
          <a:ln w="4763">
            <a:solidFill>
              <a:srgbClr val="313E80"/>
            </a:solidFill>
            <a:prstDash val="solid"/>
          </a:ln>
        </p:spPr>
      </p:sp>
      <p:sp>
        <p:nvSpPr>
          <p:cNvPr id="5" name="Text 2"/>
          <p:cNvSpPr/>
          <p:nvPr/>
        </p:nvSpPr>
        <p:spPr>
          <a:xfrm>
            <a:off x="542627" y="1824447"/>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1</a:t>
            </a:r>
            <a:endParaRPr lang="en-US" sz="1450" dirty="0"/>
          </a:p>
        </p:txBody>
      </p:sp>
      <p:sp>
        <p:nvSpPr>
          <p:cNvPr id="6" name="Text 3"/>
          <p:cNvSpPr/>
          <p:nvPr/>
        </p:nvSpPr>
        <p:spPr>
          <a:xfrm>
            <a:off x="899145" y="1841450"/>
            <a:ext cx="1880815" cy="1190774"/>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4. Analyzing: For those 10 Villas, the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Analyzer</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calculates the market median in Maadi to see if 20M is actually enough, determining that 20M is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highly competitive</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for that area.</a:t>
            </a:r>
            <a:endParaRPr lang="en-US" sz="950" dirty="0"/>
          </a:p>
        </p:txBody>
      </p:sp>
      <p:sp>
        <p:nvSpPr>
          <p:cNvPr id="7" name="Shape 4"/>
          <p:cNvSpPr/>
          <p:nvPr/>
        </p:nvSpPr>
        <p:spPr>
          <a:xfrm>
            <a:off x="2934965" y="1801192"/>
            <a:ext cx="279053" cy="279053"/>
          </a:xfrm>
          <a:prstGeom prst="roundRect">
            <a:avLst>
              <a:gd name="adj" fmla="val 18670"/>
            </a:avLst>
          </a:prstGeom>
          <a:solidFill>
            <a:srgbClr val="182567"/>
          </a:solidFill>
          <a:ln w="4763">
            <a:solidFill>
              <a:srgbClr val="313E80"/>
            </a:solidFill>
            <a:prstDash val="solid"/>
          </a:ln>
        </p:spPr>
      </p:sp>
      <p:sp>
        <p:nvSpPr>
          <p:cNvPr id="8" name="Text 5"/>
          <p:cNvSpPr/>
          <p:nvPr/>
        </p:nvSpPr>
        <p:spPr>
          <a:xfrm>
            <a:off x="2981474" y="1824447"/>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2</a:t>
            </a:r>
            <a:endParaRPr lang="en-US" sz="1450" dirty="0"/>
          </a:p>
        </p:txBody>
      </p:sp>
      <p:sp>
        <p:nvSpPr>
          <p:cNvPr id="9" name="Text 6"/>
          <p:cNvSpPr/>
          <p:nvPr/>
        </p:nvSpPr>
        <p:spPr>
          <a:xfrm>
            <a:off x="3337992" y="1841450"/>
            <a:ext cx="1880890" cy="992312"/>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5. Responding: The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Agent's Tongue</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writes: </a:t>
            </a:r>
            <a:pPr algn="l" indent="0" marL="0">
              <a:lnSpc>
                <a:spcPts val="1550"/>
              </a:lnSpc>
              <a:buNone/>
            </a:pPr>
            <a:r>
              <a:rPr lang="en-US" sz="950" i="1" dirty="0">
                <a:solidFill>
                  <a:srgbClr val="CFD0D8"/>
                </a:solidFill>
                <a:latin typeface="Roboto" pitchFamily="34" charset="0"/>
                <a:ea typeface="Roboto" pitchFamily="34" charset="-122"/>
                <a:cs typeface="Roboto" pitchFamily="34" charset="-120"/>
              </a:rPr>
              <a:t>"Yes, 20 million is a highly competitive budget for Maadi! Here are three stunning premium villas I found for you..."</a:t>
            </a:r>
            <a:endParaRPr lang="en-US" sz="950" dirty="0"/>
          </a:p>
        </p:txBody>
      </p:sp>
      <p:sp>
        <p:nvSpPr>
          <p:cNvPr id="10" name="Shape 7"/>
          <p:cNvSpPr/>
          <p:nvPr/>
        </p:nvSpPr>
        <p:spPr>
          <a:xfrm>
            <a:off x="496119" y="3280246"/>
            <a:ext cx="279053" cy="279053"/>
          </a:xfrm>
          <a:prstGeom prst="roundRect">
            <a:avLst>
              <a:gd name="adj" fmla="val 18670"/>
            </a:avLst>
          </a:prstGeom>
          <a:solidFill>
            <a:srgbClr val="182567"/>
          </a:solidFill>
          <a:ln w="4763">
            <a:solidFill>
              <a:srgbClr val="313E80"/>
            </a:solidFill>
            <a:prstDash val="solid"/>
          </a:ln>
        </p:spPr>
      </p:sp>
      <p:sp>
        <p:nvSpPr>
          <p:cNvPr id="11" name="Text 8"/>
          <p:cNvSpPr/>
          <p:nvPr/>
        </p:nvSpPr>
        <p:spPr>
          <a:xfrm>
            <a:off x="542627" y="3303501"/>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CFD0D8"/>
                </a:solidFill>
                <a:latin typeface="Roboto Medium" pitchFamily="34" charset="0"/>
                <a:ea typeface="Roboto Medium" pitchFamily="34" charset="-122"/>
                <a:cs typeface="Roboto Medium" pitchFamily="34" charset="-120"/>
              </a:rPr>
              <a:t>3</a:t>
            </a:r>
            <a:endParaRPr lang="en-US" sz="1450" dirty="0"/>
          </a:p>
        </p:txBody>
      </p:sp>
      <p:sp>
        <p:nvSpPr>
          <p:cNvPr id="12" name="Text 9"/>
          <p:cNvSpPr/>
          <p:nvPr/>
        </p:nvSpPr>
        <p:spPr>
          <a:xfrm>
            <a:off x="899145" y="3320504"/>
            <a:ext cx="4319736" cy="595387"/>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6. Action: The user likes the second option and asks to see it. The system automatically inserts a </a:t>
            </a:r>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booking request into the CRM Database</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for a human broker to follow up 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73311"/>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FFFFFF"/>
                </a:solidFill>
                <a:latin typeface="Roboto Medium" pitchFamily="34" charset="0"/>
                <a:ea typeface="Roboto Medium" pitchFamily="34" charset="-122"/>
                <a:cs typeface="Roboto Medium" pitchFamily="34" charset="-120"/>
              </a:rPr>
              <a:t>Key Takeaways</a:t>
            </a:r>
            <a:endParaRPr lang="en-US" sz="2400" dirty="0"/>
          </a:p>
        </p:txBody>
      </p:sp>
      <p:sp>
        <p:nvSpPr>
          <p:cNvPr id="3" name="Text 1"/>
          <p:cNvSpPr/>
          <p:nvPr/>
        </p:nvSpPr>
        <p:spPr>
          <a:xfrm>
            <a:off x="496119" y="140888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The Real Estate AI Agent Module is a unified system that combines natural language understanding, machine learning search, deterministic market analysis, and rigorous data governance into a single autonomous concierge experience.</a:t>
            </a:r>
            <a:endParaRPr lang="en-US" sz="950" dirty="0"/>
          </a:p>
        </p:txBody>
      </p:sp>
      <p:sp>
        <p:nvSpPr>
          <p:cNvPr id="4" name="Shape 2"/>
          <p:cNvSpPr/>
          <p:nvPr/>
        </p:nvSpPr>
        <p:spPr>
          <a:xfrm>
            <a:off x="496119" y="1945332"/>
            <a:ext cx="4013895" cy="1150441"/>
          </a:xfrm>
          <a:prstGeom prst="roundRect">
            <a:avLst>
              <a:gd name="adj" fmla="val 4529"/>
            </a:avLst>
          </a:prstGeom>
          <a:solidFill>
            <a:srgbClr val="182567"/>
          </a:solidFill>
          <a:ln w="4763">
            <a:solidFill>
              <a:srgbClr val="313E80"/>
            </a:solidFill>
            <a:prstDash val="solid"/>
          </a:ln>
        </p:spPr>
      </p:sp>
      <p:sp>
        <p:nvSpPr>
          <p:cNvPr id="5" name="Shape 3"/>
          <p:cNvSpPr/>
          <p:nvPr/>
        </p:nvSpPr>
        <p:spPr>
          <a:xfrm>
            <a:off x="624855" y="2074069"/>
            <a:ext cx="372070" cy="372070"/>
          </a:xfrm>
          <a:prstGeom prst="roundRect">
            <a:avLst>
              <a:gd name="adj" fmla="val 15358477"/>
            </a:avLst>
          </a:prstGeom>
          <a:solidFill>
            <a:srgbClr val="5A6ED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176314"/>
            <a:ext cx="167432" cy="167432"/>
          </a:xfrm>
          <a:prstGeom prst="rect">
            <a:avLst/>
          </a:prstGeom>
        </p:spPr>
      </p:pic>
      <p:sp>
        <p:nvSpPr>
          <p:cNvPr id="7" name="Text 4"/>
          <p:cNvSpPr/>
          <p:nvPr/>
        </p:nvSpPr>
        <p:spPr>
          <a:xfrm>
            <a:off x="624855" y="2570113"/>
            <a:ext cx="3756422"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Natural Language First:</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Users describe what they want in plain English — no complex filters required.</a:t>
            </a:r>
            <a:endParaRPr lang="en-US" sz="950" dirty="0"/>
          </a:p>
        </p:txBody>
      </p:sp>
      <p:sp>
        <p:nvSpPr>
          <p:cNvPr id="8" name="Shape 5"/>
          <p:cNvSpPr/>
          <p:nvPr/>
        </p:nvSpPr>
        <p:spPr>
          <a:xfrm>
            <a:off x="4633987" y="1945332"/>
            <a:ext cx="4013895" cy="1150441"/>
          </a:xfrm>
          <a:prstGeom prst="roundRect">
            <a:avLst>
              <a:gd name="adj" fmla="val 4529"/>
            </a:avLst>
          </a:prstGeom>
          <a:solidFill>
            <a:srgbClr val="182567"/>
          </a:solidFill>
          <a:ln w="4763">
            <a:solidFill>
              <a:srgbClr val="313E80"/>
            </a:solidFill>
            <a:prstDash val="solid"/>
          </a:ln>
        </p:spPr>
      </p:sp>
      <p:sp>
        <p:nvSpPr>
          <p:cNvPr id="9" name="Shape 6"/>
          <p:cNvSpPr/>
          <p:nvPr/>
        </p:nvSpPr>
        <p:spPr>
          <a:xfrm>
            <a:off x="4762723" y="2074069"/>
            <a:ext cx="372070" cy="372070"/>
          </a:xfrm>
          <a:prstGeom prst="roundRect">
            <a:avLst>
              <a:gd name="adj" fmla="val 15358477"/>
            </a:avLst>
          </a:prstGeom>
          <a:solidFill>
            <a:srgbClr val="5A6ED8"/>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5043" y="2176314"/>
            <a:ext cx="167432" cy="167432"/>
          </a:xfrm>
          <a:prstGeom prst="rect">
            <a:avLst/>
          </a:prstGeom>
        </p:spPr>
      </p:pic>
      <p:sp>
        <p:nvSpPr>
          <p:cNvPr id="11" name="Text 7"/>
          <p:cNvSpPr/>
          <p:nvPr/>
        </p:nvSpPr>
        <p:spPr>
          <a:xfrm>
            <a:off x="4762723" y="2570113"/>
            <a:ext cx="3756422"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Smarter Search:</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FAISS + XGBoost semantic search finds properties even when users can't perfectly describe them.</a:t>
            </a:r>
            <a:endParaRPr lang="en-US" sz="950" dirty="0"/>
          </a:p>
        </p:txBody>
      </p:sp>
      <p:sp>
        <p:nvSpPr>
          <p:cNvPr id="12" name="Shape 8"/>
          <p:cNvSpPr/>
          <p:nvPr/>
        </p:nvSpPr>
        <p:spPr>
          <a:xfrm>
            <a:off x="496119" y="3219748"/>
            <a:ext cx="4013895" cy="1150441"/>
          </a:xfrm>
          <a:prstGeom prst="roundRect">
            <a:avLst>
              <a:gd name="adj" fmla="val 4529"/>
            </a:avLst>
          </a:prstGeom>
          <a:solidFill>
            <a:srgbClr val="182567"/>
          </a:solidFill>
          <a:ln w="4763">
            <a:solidFill>
              <a:srgbClr val="313E80"/>
            </a:solidFill>
            <a:prstDash val="solid"/>
          </a:ln>
        </p:spPr>
      </p:sp>
      <p:sp>
        <p:nvSpPr>
          <p:cNvPr id="13" name="Shape 9"/>
          <p:cNvSpPr/>
          <p:nvPr/>
        </p:nvSpPr>
        <p:spPr>
          <a:xfrm>
            <a:off x="624855" y="3348484"/>
            <a:ext cx="372070" cy="372070"/>
          </a:xfrm>
          <a:prstGeom prst="roundRect">
            <a:avLst>
              <a:gd name="adj" fmla="val 15358477"/>
            </a:avLst>
          </a:prstGeom>
          <a:solidFill>
            <a:srgbClr val="5A6ED8"/>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174" y="3450729"/>
            <a:ext cx="167432" cy="167432"/>
          </a:xfrm>
          <a:prstGeom prst="rect">
            <a:avLst/>
          </a:prstGeom>
        </p:spPr>
      </p:pic>
      <p:sp>
        <p:nvSpPr>
          <p:cNvPr id="15" name="Text 10"/>
          <p:cNvSpPr/>
          <p:nvPr/>
        </p:nvSpPr>
        <p:spPr>
          <a:xfrm>
            <a:off x="624855" y="3844528"/>
            <a:ext cx="3756422"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Hallucination-Free Math:</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The Analyzer handles all pricing logic deterministically — the LLM never guesses numbers.</a:t>
            </a:r>
            <a:endParaRPr lang="en-US" sz="950" dirty="0"/>
          </a:p>
        </p:txBody>
      </p:sp>
      <p:sp>
        <p:nvSpPr>
          <p:cNvPr id="16" name="Shape 11"/>
          <p:cNvSpPr/>
          <p:nvPr/>
        </p:nvSpPr>
        <p:spPr>
          <a:xfrm>
            <a:off x="4633987" y="3219748"/>
            <a:ext cx="4013895" cy="1150441"/>
          </a:xfrm>
          <a:prstGeom prst="roundRect">
            <a:avLst>
              <a:gd name="adj" fmla="val 4529"/>
            </a:avLst>
          </a:prstGeom>
          <a:solidFill>
            <a:srgbClr val="182567"/>
          </a:solidFill>
          <a:ln w="4763">
            <a:solidFill>
              <a:srgbClr val="313E80"/>
            </a:solidFill>
            <a:prstDash val="solid"/>
          </a:ln>
        </p:spPr>
      </p:sp>
      <p:sp>
        <p:nvSpPr>
          <p:cNvPr id="17" name="Shape 12"/>
          <p:cNvSpPr/>
          <p:nvPr/>
        </p:nvSpPr>
        <p:spPr>
          <a:xfrm>
            <a:off x="4762723" y="3348484"/>
            <a:ext cx="372070" cy="372070"/>
          </a:xfrm>
          <a:prstGeom prst="roundRect">
            <a:avLst>
              <a:gd name="adj" fmla="val 15358477"/>
            </a:avLst>
          </a:prstGeom>
          <a:solidFill>
            <a:srgbClr val="5A6ED8"/>
          </a:solidFill>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5043" y="3450729"/>
            <a:ext cx="167432" cy="167432"/>
          </a:xfrm>
          <a:prstGeom prst="rect">
            <a:avLst/>
          </a:prstGeom>
        </p:spPr>
      </p:pic>
      <p:sp>
        <p:nvSpPr>
          <p:cNvPr id="19" name="Text 13"/>
          <p:cNvSpPr/>
          <p:nvPr/>
        </p:nvSpPr>
        <p:spPr>
          <a:xfrm>
            <a:off x="4762723" y="3844528"/>
            <a:ext cx="3756422" cy="396925"/>
          </a:xfrm>
          <a:prstGeom prst="rect">
            <a:avLst/>
          </a:prstGeom>
          <a:noFill/>
          <a:ln/>
        </p:spPr>
        <p:txBody>
          <a:bodyPr wrap="square" lIns="0" tIns="0" rIns="0" bIns="0" rtlCol="0" anchor="t"/>
          <a:lstStyle/>
          <a:p>
            <a:pPr algn="l" indent="0" marL="0">
              <a:lnSpc>
                <a:spcPts val="1550"/>
              </a:lnSpc>
              <a:buNone/>
            </a:pPr>
            <a:r>
              <a:rPr lang="en-US" sz="950" b="1" dirty="0">
                <a:solidFill>
                  <a:srgbClr val="CFD0D8"/>
                </a:solidFill>
                <a:latin typeface="Roboto" pitchFamily="34" charset="0"/>
                <a:ea typeface="Roboto" pitchFamily="34" charset="-122"/>
                <a:cs typeface="Roboto" pitchFamily="34" charset="-120"/>
              </a:rPr>
              <a:t>100% Data Sync:</a:t>
            </a:r>
            <a:pPr algn="l" indent="0" marL="0">
              <a:lnSpc>
                <a:spcPts val="1550"/>
              </a:lnSpc>
              <a:buNone/>
            </a:pPr>
            <a:r>
              <a:rPr lang="en-US" sz="950" dirty="0">
                <a:solidFill>
                  <a:srgbClr val="CFD0D8"/>
                </a:solidFill>
                <a:latin typeface="Roboto" pitchFamily="34" charset="0"/>
                <a:ea typeface="Roboto" pitchFamily="34" charset="-122"/>
                <a:cs typeface="Roboto" pitchFamily="34" charset="-120"/>
              </a:rPr>
              <a:t> The Data Pipeline's contract ensures all modules operate on the exact same pristine dataset.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2026-05-08T22:05:11Z</dcterms:created>
  <dcterms:modified xsi:type="dcterms:W3CDTF">2026-05-08T22:05:11Z</dcterms:modified>
</cp:coreProperties>
</file>